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  <p:embeddedFont>
      <p:font typeface="Roboto Medium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jpBOD1wnFu5Ox5hv3wUcSwmDxw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font" Target="fonts/Roboto-regular.fntdata"/><Relationship Id="rId11" Type="http://schemas.openxmlformats.org/officeDocument/2006/relationships/font" Target="fonts/Roboto-bold.fntdata"/><Relationship Id="rId12" Type="http://schemas.openxmlformats.org/officeDocument/2006/relationships/font" Target="fonts/Roboto-italic.fntdata"/><Relationship Id="rId13" Type="http://schemas.openxmlformats.org/officeDocument/2006/relationships/font" Target="fonts/Roboto-boldItalic.fntdata"/><Relationship Id="rId14" Type="http://schemas.openxmlformats.org/officeDocument/2006/relationships/font" Target="fonts/RobotoMedium-regular.fntdata"/><Relationship Id="rId15" Type="http://schemas.openxmlformats.org/officeDocument/2006/relationships/font" Target="fonts/RobotoMedium-bold.fntdata"/><Relationship Id="rId16" Type="http://schemas.openxmlformats.org/officeDocument/2006/relationships/font" Target="fonts/RobotoMedium-italic.fntdata"/><Relationship Id="rId17" Type="http://schemas.openxmlformats.org/officeDocument/2006/relationships/font" Target="fonts/RobotoMedium-boldItalic.fntdata"/><Relationship Id="rId1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2296137532f5a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h2296137532f5a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2296137532f5af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h2296137532f5af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" y="0"/>
            <a:ext cx="9155849" cy="515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"/>
          <p:cNvSpPr txBox="1"/>
          <p:nvPr>
            <p:ph type="title"/>
          </p:nvPr>
        </p:nvSpPr>
        <p:spPr>
          <a:xfrm>
            <a:off x="464100" y="3098125"/>
            <a:ext cx="6988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464100" y="3794075"/>
            <a:ext cx="75165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2500"/>
              <a:buFont typeface="Roboto Medium"/>
              <a:buNone/>
              <a:defRPr sz="25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9pPr>
          </a:lstStyle>
          <a:p/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348" y="1505461"/>
            <a:ext cx="2272593" cy="18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348" y="187745"/>
            <a:ext cx="2063598" cy="1295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5858" y="4726170"/>
            <a:ext cx="1407814" cy="312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i="0" sz="2400" u="none" cap="none" strike="noStrike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 b="0" l="53583" r="0" t="0"/>
          <a:stretch/>
        </p:blipFill>
        <p:spPr>
          <a:xfrm>
            <a:off x="0" y="394226"/>
            <a:ext cx="311700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49797"/>
            <a:ext cx="91440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5989" y="4827865"/>
            <a:ext cx="3332021" cy="278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700" y="4771154"/>
            <a:ext cx="584516" cy="345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6412" y="4790989"/>
            <a:ext cx="1446045" cy="32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8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 rot="-5400000">
            <a:off x="2158615" y="-2137275"/>
            <a:ext cx="86897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8"/>
          <p:cNvPicPr preferRelativeResize="0"/>
          <p:nvPr/>
        </p:nvPicPr>
        <p:blipFill rotWithShape="1">
          <a:blip r:embed="rId2">
            <a:alphaModFix amt="11000"/>
          </a:blip>
          <a:srcRect b="4935" l="0" r="0" t="17694"/>
          <a:stretch/>
        </p:blipFill>
        <p:spPr>
          <a:xfrm rot="-5400000">
            <a:off x="6719951" y="-1555100"/>
            <a:ext cx="868950" cy="39791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"/>
          <p:cNvSpPr/>
          <p:nvPr/>
        </p:nvSpPr>
        <p:spPr>
          <a:xfrm rot="5400000">
            <a:off x="4113300" y="-4111500"/>
            <a:ext cx="917400" cy="9140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46A"/>
              </a:buClr>
              <a:buSzPts val="2400"/>
              <a:buFont typeface="Roboto"/>
              <a:buNone/>
              <a:defRPr b="1" sz="2400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30" name="Google Shape;30;p8"/>
          <p:cNvPicPr preferRelativeResize="0"/>
          <p:nvPr/>
        </p:nvPicPr>
        <p:blipFill rotWithShape="1">
          <a:blip r:embed="rId3">
            <a:alphaModFix/>
          </a:blip>
          <a:srcRect b="0" l="53583" r="0" t="0"/>
          <a:stretch/>
        </p:blipFill>
        <p:spPr>
          <a:xfrm>
            <a:off x="0" y="394226"/>
            <a:ext cx="311700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749797"/>
            <a:ext cx="91440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" name="Google Shape;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5989" y="4827865"/>
            <a:ext cx="3332021" cy="278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6412" y="4790989"/>
            <a:ext cx="1446045" cy="321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1700" y="4771154"/>
            <a:ext cx="584516" cy="345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" y="0"/>
            <a:ext cx="9155849" cy="515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348" y="1505461"/>
            <a:ext cx="2272593" cy="18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348" y="187745"/>
            <a:ext cx="2063598" cy="129545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0" y="2220966"/>
            <a:ext cx="91422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moe-a-m/tanglelens" TargetMode="External"/><Relationship Id="rId4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>
            <p:ph type="title"/>
          </p:nvPr>
        </p:nvSpPr>
        <p:spPr>
          <a:xfrm>
            <a:off x="464100" y="3098125"/>
            <a:ext cx="6988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</a:pPr>
            <a:r>
              <a:rPr lang="en"/>
              <a:t>TangleLens</a:t>
            </a:r>
            <a:endParaRPr/>
          </a:p>
        </p:txBody>
      </p:sp>
      <p:sp>
        <p:nvSpPr>
          <p:cNvPr id="46" name="Google Shape;46;p1"/>
          <p:cNvSpPr txBox="1"/>
          <p:nvPr>
            <p:ph idx="1" type="subTitle"/>
          </p:nvPr>
        </p:nvSpPr>
        <p:spPr>
          <a:xfrm>
            <a:off x="464100" y="3794075"/>
            <a:ext cx="75165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2500"/>
              <a:buFont typeface="Roboto Medium"/>
              <a:buNone/>
            </a:pPr>
            <a:r>
              <a:t>IOTA Advanced Explorer for Eclipse aeriOS · Challenge 2 (O-CEI)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GitHub repo</a:t>
            </a:r>
            <a:endParaRPr/>
          </a:p>
        </p:txBody>
      </p:sp>
      <p:sp>
        <p:nvSpPr>
          <p:cNvPr id="52" name="Google Shape;52;p2"/>
          <p:cNvSpPr txBox="1"/>
          <p:nvPr>
            <p:ph idx="1" type="body"/>
          </p:nvPr>
        </p:nvSpPr>
        <p:spPr>
          <a:xfrm>
            <a:off x="311700" y="1152475"/>
            <a:ext cx="416052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sz="1300"/>
              <a:t>GitHub repo: </a:t>
            </a:r>
            <a:r>
              <a:rPr sz="1300">
                <a:hlinkClick r:id="rId3"/>
              </a:rPr>
              <a:t>https://github.com/moe-a-m/tanglelens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sz="1300"/>
              <a:t>Licence: </a:t>
            </a:r>
            <a:r>
              <a:rPr sz="1300"/>
              <a:t>Apache-2.0, including modified Eclipse aeriOS code (see NOTICE)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sz="1300"/>
              <a:t>Run it: </a:t>
            </a:r>
            <a:r>
              <a:rPr sz="1300"/>
              <a:t>start the aeriOS tangle (iota-tangle/), then make up · make demo · make test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sz="1300"/>
              <a:t>Evidence: </a:t>
            </a:r>
            <a:r>
              <a:rPr sz="1300"/>
              <a:t>raw Hornet responses, test summaries and clean-clone runs in reports/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sz="1300"/>
              <a:t>Stack: </a:t>
            </a:r>
            <a:r>
              <a:rPr sz="1300"/>
              <a:t>Python, FastAPI, Flask, PostgreSQL, Mosquitto MQTT, HORNET 2.0.2, Docker Compose</a:t>
            </a:r>
          </a:p>
        </p:txBody>
      </p:sp>
      <p:sp>
        <p:nvSpPr>
          <p:cNvPr id="53" name="Google Shape;53;p2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8108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Picture 53" descr="TangleLens web UI: search filters, message list and a confirmed message with its verification checkli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280160"/>
            <a:ext cx="4206240" cy="2628900"/>
          </a:xfrm>
          <a:prstGeom prst="rect">
            <a:avLst/>
          </a:prstGeom>
          <a:ln w="9525">
            <a:solidFill>
              <a:srgbClr val="D3DBE3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2296137532f5afa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59" name="Google Shape;59;h2296137532f5afa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sz="1300"/>
              <a:t>What: </a:t>
            </a:r>
            <a:r>
              <a:rPr sz="1300"/>
              <a:t>a searchable, continuously verified copy of every message Eclipse aeriOS writes to its private IOTA Tangle. The Tangle stays the authority.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sz="1300"/>
              <a:t>App 1, extended aeriOS Messages API: </a:t>
            </a:r>
            <a:r>
              <a:rPr sz="1300"/>
              <a:t>same /upload contract and HTTP 200; after Hornet accepts a block it forwards the block id and the exact bytes sent, over HTTP and MQTT.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sz="1300"/>
              <a:t>App 2, Advanced Explorer: </a:t>
            </a:r>
            <a:r>
              <a:rPr sz="1300"/>
              <a:t>PostgreSQL copy enriched with readable metadata; REST API and web UI search by block id, date and tag, plus source, text, status and trace.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sz="1300"/>
              <a:t>Validation: </a:t>
            </a:r>
            <a:r>
              <a:rPr sz="1300"/>
              <a:t>every block is checked with Hornet's GET block metadata (solid, milestone-referenced, conflicting) and GET block (content compared as hex, decoded JSON and SHA-256).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sz="1300"/>
              <a:t>Audit: </a:t>
            </a:r>
            <a:r>
              <a:rPr sz="1300"/>
              <a:t>append-only history of every check; all messages re-audited every 5 minutes, so later tampering is caught.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sz="1300"/>
              <a:t>Runs on the real aeriOS private tangle </a:t>
            </a:r>
            <a:r>
              <a:rPr sz="1300"/>
              <a:t>(HORNET 2.0.2) with Docker Compose; tested from a fresh clone.</a:t>
            </a:r>
          </a:p>
        </p:txBody>
      </p:sp>
      <p:sp>
        <p:nvSpPr>
          <p:cNvPr id="60" name="Google Shape;60;h2296137532f5afa_0_0"/>
          <p:cNvSpPr txBox="1"/>
          <p:nvPr>
            <p:ph idx="12" type="sldNum"/>
          </p:nvPr>
        </p:nvSpPr>
        <p:spPr>
          <a:xfrm>
            <a:off x="8472458" y="4789959"/>
            <a:ext cx="548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2296137532f5afa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Highlights</a:t>
            </a:r>
            <a:endParaRPr/>
          </a:p>
        </p:txBody>
      </p:sp>
      <p:sp>
        <p:nvSpPr>
          <p:cNvPr id="66" name="Google Shape;66;h2296137532f5afa_0_6"/>
          <p:cNvSpPr txBox="1"/>
          <p:nvPr>
            <p:ph idx="1" type="body"/>
          </p:nvPr>
        </p:nvSpPr>
        <p:spPr>
          <a:xfrm>
            <a:off x="311700" y="1152475"/>
            <a:ext cx="416052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sz="1200"/>
              <a:t>Tampering is caught: </a:t>
            </a:r>
            <a:r>
              <a:rPr sz="1200"/>
              <a:t>an IE's trust score inflated from 0.61 to 0.95 in the database is flagged, shown next to the Tangle copy and alerted.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sz="1200"/>
              <a:t>Solid is not confirmed: </a:t>
            </a:r>
            <a:r>
              <a:rPr sz="1200"/>
              <a:t>8 explicit states; measured on the real node: solid within 20 ms, milestone median 3.3 s.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sz="1200"/>
              <a:t>Beyond the brief (UPV ideas #1, #3, #4): </a:t>
            </a:r>
            <a:r>
              <a:rPr sz="1200"/>
              <a:t>trace timelines, alerts (UI, webhook, MQTT), MQTT live feed.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sz="1200"/>
              <a:t>Survives outages: </a:t>
            </a:r>
            <a:r>
              <a:rPr sz="1200"/>
              <a:t>explorer or database down for 25 s, no record lost.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sz="1200"/>
              <a:t>Evidence first: </a:t>
            </a:r>
            <a:r>
              <a:rPr sz="1200"/>
              <a:t>115 automated tests (SQLite + PostgreSQL), live smoke test, every Hornet behaviour backed by a saved raw response.</a:t>
            </a:r>
          </a:p>
        </p:txBody>
      </p:sp>
      <p:sp>
        <p:nvSpPr>
          <p:cNvPr id="67" name="Google Shape;67;h2296137532f5afa_0_6"/>
          <p:cNvSpPr txBox="1"/>
          <p:nvPr>
            <p:ph idx="12" type="sldNum"/>
          </p:nvPr>
        </p:nvSpPr>
        <p:spPr>
          <a:xfrm>
            <a:off x="8472458" y="4789959"/>
            <a:ext cx="548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" name="Picture 67" descr="Content mismatch: stored copy with trust_score 0.95 beside the Tangle copy with 0.61; fields that differ: trust_sc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280160"/>
            <a:ext cx="4206240" cy="2628900"/>
          </a:xfrm>
          <a:prstGeom prst="rect">
            <a:avLst/>
          </a:prstGeom>
          <a:ln w="9525">
            <a:solidFill>
              <a:srgbClr val="D3DBE3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Anastasios Zafeiropoulos</dc:creator>
</cp:coreProperties>
</file>